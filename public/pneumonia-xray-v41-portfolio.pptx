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f66bb837b04049" /><Relationship Type="http://schemas.openxmlformats.org/officeDocument/2006/relationships/extended-properties" Target="/docProps/app.xml" Id="Rcb76a671527a4cca" /><Relationship Type="http://schemas.openxmlformats.org/officeDocument/2006/relationships/officeDocument" Target="/ppt/presentation.xml" Id="R2e2b343d0a3f48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8650cd0404480e"/>
  </p:sldMasterIdLst>
  <p:notesMasterIdLst>
    <p:notesMasterId xmlns:r="http://schemas.openxmlformats.org/officeDocument/2006/relationships" r:id="Rd19a3aef2c6d40c1"/>
  </p:notesMasterIdLst>
  <p:sldIdLst>
    <p:sldId xmlns:r="http://schemas.openxmlformats.org/officeDocument/2006/relationships" id="256" r:id="R4ba18a20a0ce4811"/>
    <p:sldId xmlns:r="http://schemas.openxmlformats.org/officeDocument/2006/relationships" id="257" r:id="Rb112b8f1e1c74bfc"/>
    <p:sldId xmlns:r="http://schemas.openxmlformats.org/officeDocument/2006/relationships" id="258" r:id="Rdd1a89a2264940d7"/>
    <p:sldId xmlns:r="http://schemas.openxmlformats.org/officeDocument/2006/relationships" id="259" r:id="Rfb32039be24d4338"/>
    <p:sldId xmlns:r="http://schemas.openxmlformats.org/officeDocument/2006/relationships" id="260" r:id="Rfe83ae3504534ba6"/>
    <p:sldId xmlns:r="http://schemas.openxmlformats.org/officeDocument/2006/relationships" id="261" r:id="R9ae93c69c20641cc"/>
    <p:sldId xmlns:r="http://schemas.openxmlformats.org/officeDocument/2006/relationships" id="262" r:id="R2b5c7e0cf7424165"/>
    <p:sldId xmlns:r="http://schemas.openxmlformats.org/officeDocument/2006/relationships" id="263" r:id="R6621336b33604d9e"/>
    <p:sldId xmlns:r="http://schemas.openxmlformats.org/officeDocument/2006/relationships" id="264" r:id="Rceffb76df2074e90"/>
    <p:sldId xmlns:r="http://schemas.openxmlformats.org/officeDocument/2006/relationships" id="265" r:id="R4fa4943065964e58"/>
    <p:sldId xmlns:r="http://schemas.openxmlformats.org/officeDocument/2006/relationships" id="266" r:id="R792479385c4b4882"/>
    <p:sldId xmlns:r="http://schemas.openxmlformats.org/officeDocument/2006/relationships" id="267" r:id="R4bcb15f7dd5546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60e0ebe9d34576" /><Relationship Type="http://schemas.openxmlformats.org/officeDocument/2006/relationships/slideMaster" Target="/ppt/slideMasters/slideMaster1.xml" Id="R3b8650cd0404480e" /><Relationship Type="http://schemas.openxmlformats.org/officeDocument/2006/relationships/notesMaster" Target="/ppt/notesMasters/notesMaster1.xml" Id="Rd19a3aef2c6d40c1" /><Relationship Type="http://schemas.openxmlformats.org/officeDocument/2006/relationships/presProps" Target="/ppt/presProps.xml" Id="R39a2e7bf0d404939" /><Relationship Type="http://schemas.openxmlformats.org/officeDocument/2006/relationships/tableStyles" Target="/ppt/tableStyles.xml" Id="Re8f7ce7d3d374bf7" /><Relationship Type="http://schemas.openxmlformats.org/officeDocument/2006/relationships/slide" Target="/ppt/slides/slide1.xml" Id="R4ba18a20a0ce4811" /><Relationship Type="http://schemas.openxmlformats.org/officeDocument/2006/relationships/slide" Target="/ppt/slides/slide2.xml" Id="Rb112b8f1e1c74bfc" /><Relationship Type="http://schemas.openxmlformats.org/officeDocument/2006/relationships/slide" Target="/ppt/slides/slide3.xml" Id="Rdd1a89a2264940d7" /><Relationship Type="http://schemas.openxmlformats.org/officeDocument/2006/relationships/slide" Target="/ppt/slides/slide4.xml" Id="Rfb32039be24d4338" /><Relationship Type="http://schemas.openxmlformats.org/officeDocument/2006/relationships/slide" Target="/ppt/slides/slide5.xml" Id="Rfe83ae3504534ba6" /><Relationship Type="http://schemas.openxmlformats.org/officeDocument/2006/relationships/slide" Target="/ppt/slides/slide6.xml" Id="R9ae93c69c20641cc" /><Relationship Type="http://schemas.openxmlformats.org/officeDocument/2006/relationships/slide" Target="/ppt/slides/slide7.xml" Id="R2b5c7e0cf7424165" /><Relationship Type="http://schemas.openxmlformats.org/officeDocument/2006/relationships/slide" Target="/ppt/slides/slide8.xml" Id="R6621336b33604d9e" /><Relationship Type="http://schemas.openxmlformats.org/officeDocument/2006/relationships/slide" Target="/ppt/slides/slide9.xml" Id="Rceffb76df2074e90" /><Relationship Type="http://schemas.openxmlformats.org/officeDocument/2006/relationships/slide" Target="/ppt/slides/slide10.xml" Id="R4fa4943065964e58" /><Relationship Type="http://schemas.openxmlformats.org/officeDocument/2006/relationships/slide" Target="/ppt/slides/slide11.xml" Id="R792479385c4b4882" /><Relationship Type="http://schemas.openxmlformats.org/officeDocument/2006/relationships/slide" Target="/ppt/slides/slide12.xml" Id="R4bcb15f7dd5546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13ae4f29f43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e899dabfbc4668" /><Relationship Type="http://schemas.openxmlformats.org/officeDocument/2006/relationships/notesMaster" Target="/ppt/notesMasters/notesMaster1.xml" Id="R93cf49cc89224f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eebec8fd2141c6" /><Relationship Type="http://schemas.openxmlformats.org/officeDocument/2006/relationships/notesMaster" Target="/ppt/notesMasters/notesMaster1.xml" Id="R7ed0c3d1cf3c42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08555cb69c47e0" /><Relationship Type="http://schemas.openxmlformats.org/officeDocument/2006/relationships/notesMaster" Target="/ppt/notesMasters/notesMaster1.xml" Id="Re79ad118c4cf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ed2c2028b14e68" /><Relationship Type="http://schemas.openxmlformats.org/officeDocument/2006/relationships/notesMaster" Target="/ppt/notesMasters/notesMaster1.xml" Id="R3e079f1bc4ef42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d2bc51ab4a488d" /><Relationship Type="http://schemas.openxmlformats.org/officeDocument/2006/relationships/notesMaster" Target="/ppt/notesMasters/notesMaster1.xml" Id="R7643889c78b14d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0045e7127d4dff" /><Relationship Type="http://schemas.openxmlformats.org/officeDocument/2006/relationships/notesMaster" Target="/ppt/notesMasters/notesMaster1.xml" Id="R9c831d7e77144a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3fd4d04514c9a" /><Relationship Type="http://schemas.openxmlformats.org/officeDocument/2006/relationships/notesMaster" Target="/ppt/notesMasters/notesMaster1.xml" Id="R925f1acfa0b949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00e754a5b74509" /><Relationship Type="http://schemas.openxmlformats.org/officeDocument/2006/relationships/notesMaster" Target="/ppt/notesMasters/notesMaster1.xml" Id="Rbc1add71ae9a4e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5d464b0808458e" /><Relationship Type="http://schemas.openxmlformats.org/officeDocument/2006/relationships/notesMaster" Target="/ppt/notesMasters/notesMaster1.xml" Id="R4262f460ae0743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465e3e68d54306" /><Relationship Type="http://schemas.openxmlformats.org/officeDocument/2006/relationships/notesMaster" Target="/ppt/notesMasters/notesMaster1.xml" Id="Re29f4fca58d34a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67520e7f304063" /><Relationship Type="http://schemas.openxmlformats.org/officeDocument/2006/relationships/notesMaster" Target="/ppt/notesMasters/notesMaster1.xml" Id="Raa3e9be666ab48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49cc21e43042cf" /><Relationship Type="http://schemas.openxmlformats.org/officeDocument/2006/relationships/notesMaster" Target="/ppt/notesMasters/notesMaster1.xml" Id="Rc8e212f9a051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af6fedd7c4c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55e2f0c978489d" /><Relationship Type="http://schemas.openxmlformats.org/officeDocument/2006/relationships/slideLayout" Target="/ppt/slideLayouts/slideLayout1.xml" Id="Rbd8449dfe3aa48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8449dfe3aa48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31771028f4483" /><Relationship Type="http://schemas.openxmlformats.org/officeDocument/2006/relationships/image" Target="/ppt/media/image.jpeg" Id="R356851108bed4d1e" /><Relationship Type="http://schemas.openxmlformats.org/officeDocument/2006/relationships/notesSlide" Target="/ppt/notesSlides/notesSlide1.xml" Id="Reab579479c554d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4172da1774bff" /><Relationship Type="http://schemas.openxmlformats.org/officeDocument/2006/relationships/notesSlide" Target="/ppt/notesSlides/notesSlide2.xml" Id="Rcac3ca0d7b3643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2e75c4c924547" /><Relationship Type="http://schemas.openxmlformats.org/officeDocument/2006/relationships/notesSlide" Target="/ppt/notesSlides/notesSlide3.xml" Id="R7ad09b6daaa4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841f940044f34" /><Relationship Type="http://schemas.openxmlformats.org/officeDocument/2006/relationships/notesSlide" Target="/ppt/notesSlides/notesSlide4.xml" Id="R608dd0eaf1464d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457f46ded43d3" /><Relationship Type="http://schemas.openxmlformats.org/officeDocument/2006/relationships/notesSlide" Target="/ppt/notesSlides/notesSlide5.xml" Id="Rc97f30e9a3034d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270ca37ec4ba9" /><Relationship Type="http://schemas.openxmlformats.org/officeDocument/2006/relationships/notesSlide" Target="/ppt/notesSlides/notesSlide6.xml" Id="R511247f1ca9443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3b80fc9624e99" /><Relationship Type="http://schemas.openxmlformats.org/officeDocument/2006/relationships/chart" Target="/ppt/slides/charts/chart1.xml" Id="R155b75e26e934a9d" /><Relationship Type="http://schemas.openxmlformats.org/officeDocument/2006/relationships/notesSlide" Target="/ppt/notesSlides/notesSlide7.xml" Id="Ra84173bb7f0747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b44556fb84919" /><Relationship Type="http://schemas.openxmlformats.org/officeDocument/2006/relationships/notesSlide" Target="/ppt/notesSlides/notesSlide8.xml" Id="R548c51e5d33b42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474f33a964eb0" /><Relationship Type="http://schemas.openxmlformats.org/officeDocument/2006/relationships/image" Target="/ppt/media/image2.jpeg" Id="R5e9c8693f3814f35" /><Relationship Type="http://schemas.openxmlformats.org/officeDocument/2006/relationships/image" Target="/ppt/media/image3.jpeg" Id="Ra9f9bf7fe1cd48de" /><Relationship Type="http://schemas.openxmlformats.org/officeDocument/2006/relationships/image" Target="/ppt/media/image4.jpeg" Id="Rfec2773b42a74c95" /><Relationship Type="http://schemas.openxmlformats.org/officeDocument/2006/relationships/notesSlide" Target="/ppt/notesSlides/notesSlide9.xml" Id="R4edb168cfdfb42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583395eba49b8" /><Relationship Type="http://schemas.openxmlformats.org/officeDocument/2006/relationships/notesSlide" Target="/ppt/notesSlides/notesSlide10.xml" Id="R0a8c35d5f76746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64566fe3f46ee" /><Relationship Type="http://schemas.openxmlformats.org/officeDocument/2006/relationships/notesSlide" Target="/ppt/notesSlides/notesSlide11.xml" Id="R879b509a606142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7d5fabe0547da" /><Relationship Type="http://schemas.openxmlformats.org/officeDocument/2006/relationships/notesSlide" Target="/ppt/notesSlides/notesSlide12.xml" Id="R2c1b7e2ad800431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563EB"/>
            </a:solidFill>
          </c:spPr>
          <c:dLbls/>
          <c:cat>
            <c:strLit>
              <c:ptCount val="3"/>
              <c:pt idx="0">
                <c:v>initial</c:v>
              </c:pt>
              <c:pt idx="1">
                <c:v>v40</c:v>
              </c:pt>
              <c:pt idx="2">
                <c:v>v41</c:v>
              </c:pt>
            </c:strLit>
          </c:cat>
          <c:val>
            <c:numLit>
              <c:formatCode>General</c:formatCode>
              <c:ptCount val="3"/>
              <c:pt idx="0">
                <c:v>0.9455128205</c:v>
              </c:pt>
              <c:pt idx="1">
                <c:v>0.9487179487</c:v>
              </c:pt>
              <c:pt idx="2">
                <c:v>0.9519230769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956"/>
          <c:min val="0.94"/>
        </c:scaling>
        <c:delete val="0"/>
        <c:axPos val="l"/>
        <c:numFmt formatCode="General"/>
        <c:majorUnit val="0.004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60E7D-A20B-46C9-A57D-5F4D782E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임종경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EC796-336E-4D96-8F11-0C3FBD9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데이콘 해커톤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35845-32D3-45DD-AB20-88277DE5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폐렴 X-ray 이미지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7F71C-20FB-4576-BC8A-4D2A2B0D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실험 모델 포트폴리오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63BA5-51C2-453A-91AC-10E5E758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35CCA-BFB8-44D2-944E-416DE2EC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EfficientNet-B0 · ResNet18 · ResNet34 앙상블 기반 v41 최고점 모델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7C363-986B-46AC-8C58-9FB02B9C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최종 Accuracy 0.9519230769  |  초기 제출 대비 +0.0064102564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EB874-E31A-481A-BA37-714C5027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의료 이미지 분류 · validation threshold tuning · Grad-CAM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054D1-B1F4-46FC-AE5C-A2B52145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42950"/>
            <a:ext cx="2590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851108bed4d1e"/>
          <a:stretch xmlns:a="http://schemas.openxmlformats.org/drawingml/2006/main"/>
        </p:blipFill>
        <p:spPr>
          <a:xfrm xmlns:a="http://schemas.openxmlformats.org/drawingml/2006/main">
            <a:off x="8953500" y="1007584"/>
            <a:ext cx="2286000" cy="293783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4A7C1-51AD-4D22-9A3F-ED218C7E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Portfolio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67126-5904-4E3A-A4DF-352028D8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Pneumonia X-ray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693609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51FF4-2904-4482-9D8F-354F9A7B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폐렴 X-ray 이미지 분류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08E70-0C33-4CA7-ADE8-E4EA7447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딥러닝 기반 의료 이미지 분류 모델 개선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2619B-C968-45E0-921F-82D5A3D5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72C08-6E25-46AF-B79A-5E02A391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최종 제출 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04688-46BC-491D-98F2-96C95C4B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0.9519230769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9CEF9-A472-4C34-9620-1AF4434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E3587-8FB3-4D1E-94C2-1C13DD1A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초기 제출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A8B9C-67C5-4FE2-9F10-3D040CED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0.9455128205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0B306-39AB-4488-A2CD-B9AB7E4B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2F749-7DF7-4F9D-B5DE-106BAB11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총 개선폭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589AC-AAB5-4CBF-835C-AB2C7987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97316"/>
                </a:solidFill>
                <a:latin typeface="Apple SD Gothic Neo"/>
                <a:ea typeface="Apple SD Gothic Neo"/>
                <a:cs typeface="Apple SD Gothic Neo"/>
              </a:rPr>
              <a:t>+0.0064102564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52172-AD49-4E71-9670-53BBC8FE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 요약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4D909-DD46-4483-968A-EF3757EB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초기 제출 대비 약 4개 샘플에 해당하는 Accuracy 개선을 달성했습니다. 핵심은 학습된 모델의 예측 확률을 validation 기준으로 재해석하여 decision boundary를 개선한 점입니다.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42D6C-7829-48CF-88D3-B278CA63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1</a:t>
            </a:r>
          </a:p>
        </p:txBody>
      </p:sp>
    </p:spTree>
    <p:extLst>
      <p:ext uri="{BB962C8B-B14F-4D97-AF65-F5344CB8AC3E}">
        <p14:creationId xmlns:p14="http://schemas.microsoft.com/office/powerpoint/2010/main" val="1682127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3E0861-B9DE-4682-8F60-C5871EA3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성능 병목은 decision rule에서 확인되었습니다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06B83-87D2-4E7E-9A5A-8B683A61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기존 argmax 방식은 경계 샘플에서 유연성이 제한적이었습니다.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096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7620000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문제점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argmax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 근처 probability 샘플에서 최적 boundary가 아닐 수 있음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모델별 성향 차이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EffNet, ResNet18, ResNet34가 서로 다른 특징을 포착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검증-제출 차이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validation이 좋아도 실제 제출에서 흔들릴 수 있음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03669-78A8-4EB8-A554-B82581F8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목표: 테스트 라벨을 직접 수정하지 않고, train/validation 데이터 안에서 결정한 전역 규칙만으로 성능을 개선합니다.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80425-6D52-4C3C-B028-0A7CD3DD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2</a:t>
            </a:r>
          </a:p>
        </p:txBody>
      </p:sp>
    </p:spTree>
    <p:extLst>
      <p:ext uri="{BB962C8B-B14F-4D97-AF65-F5344CB8AC3E}">
        <p14:creationId xmlns:p14="http://schemas.microsoft.com/office/powerpoint/2010/main" val="882612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B6D31-A04F-4877-B4C6-5AA4014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v41은 세 모델의 probability를 전역 규칙으로 결합했습니다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060CF-3D3C-4BBD-AD30-9B64096C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최종 rule은 validation split에서 선택하고, 테스트 전체에 동일하게 적용했습니다.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EE670-08CA-4A6F-B18B-789A9038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8C738-A4D9-4091-89A9-DDF7077E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 = 0.60 × EffNet + 0.05 × ResNet18 + 0.35 × ResNet34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44A9F-F13D-41CE-B2AA-DA14659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3240D-2C93-453D-B648-C74B22D2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97316"/>
                </a:solidFill>
                <a:latin typeface="Apple SD Gothic Neo"/>
                <a:ea typeface="Apple SD Gothic Neo"/>
                <a:cs typeface="Apple SD Gothic Neo"/>
              </a:rPr>
              <a:t>p &gt;= 0.509 이면 폐렴(1), 아니면 정상(0)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109F6-18B2-4577-87E9-025C5AA7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테스트 데이터는 추론에만 사용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파일별 라벨 수동 수정 없음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외부 데이터 미사용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50559-F665-44F1-866D-1ED608D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3</a:t>
            </a:r>
          </a:p>
        </p:txBody>
      </p:sp>
    </p:spTree>
    <p:extLst>
      <p:ext uri="{BB962C8B-B14F-4D97-AF65-F5344CB8AC3E}">
        <p14:creationId xmlns:p14="http://schemas.microsoft.com/office/powerpoint/2010/main" val="43945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67104B-C011-433A-948E-B94446C3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실험은 데이터 누수를 방지하는 구조로 설계했습니다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8B641-BEC0-4CCD-AE96-845B913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테스트 이미지는 최종 추론에만 사용하고, 모든 의사결정은 train/validation 안에서 수행했습니다.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953000"/>
                <a:gridCol w="3810000"/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설정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데이콘 제공 train/test 데이터만 사용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외부 데이터 사용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분리 방식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train.csv stratified split, validation ratio 0.18, seed 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클래스 비율을 유지한 검증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 전처리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Resize 240×240, ImageNet mean/std normalization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ImageNet pretrained 계열 모델 입력 형식과 정합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테스트 사용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학습/검증 미사용, 제출 CSV 생성용 추론만 수행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Data leakage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F502F-E051-4E51-A230-74AF5351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91309-182B-4280-B6E7-C6626D42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81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규칙 준수 기준: 테스트 데이터는 모델 입력으로만 사용했으며, 파일별 라벨 수동 수정은 수행하지 않았습니다.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0AE0F-FB1B-4C94-9CB2-EC392F42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4</a:t>
            </a:r>
          </a:p>
        </p:txBody>
      </p:sp>
    </p:spTree>
    <p:extLst>
      <p:ext uri="{BB962C8B-B14F-4D97-AF65-F5344CB8AC3E}">
        <p14:creationId xmlns:p14="http://schemas.microsoft.com/office/powerpoint/2010/main" val="1446357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102A26-CE89-424E-81EF-DA771F13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v41은 validation에서 전역 threshold를 선택했습니다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930E5-F960-4DAC-8252-00857675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각 테스트 파일을 개별 조정하지 않고, validation에서 선택한 하나의 규칙을 전체 테스트셋에 적용했습니다.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695450"/>
          <a:ext xmlns:a="http://schemas.openxmlformats.org/drawingml/2006/main" cx="10572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714750"/>
                <a:gridCol w="4667250"/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 항목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v41 선택값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앙상블 가중치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EffNet 0.60 / ResNet18 0.05 / ResNet34 0.35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모델별 probability를 보완적으로 결합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폐렴 class probability의 decision boundary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Validation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0.9914802982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train split 내부 검증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Confusion Matrix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[[234, 7], [1, 697]]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폐렴 recall을 높게 유지하면서 정상 오분류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A4AB1-7592-47ED-83E8-02CB4E28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최종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4440D-C785-4154-94A4-ACFC83F7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 = 0.60×EffNet + 0.05×ResNet18 + 0.35×ResNet34,  p ≥ 0.509이면 폐렴(1)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DE12D-E95D-40BA-9DBC-7126642B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5</a:t>
            </a:r>
          </a:p>
        </p:txBody>
      </p:sp>
    </p:spTree>
    <p:extLst>
      <p:ext uri="{BB962C8B-B14F-4D97-AF65-F5344CB8AC3E}">
        <p14:creationId xmlns:p14="http://schemas.microsoft.com/office/powerpoint/2010/main" val="2022190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757B40-CD11-4966-BD00-39B19444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초기 제출 대비 유의미한 성능 개선을 달성했습니다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9BACF-84EB-491F-ABB9-EDA780A0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0683B-3F54-48F2-8BB4-EAF550F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초기 제출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FDD1A-9955-44E2-B58F-01F27B3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0.9455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CFF49-FB0C-48B4-96CD-17B586C8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AFC3B-564E-48F9-B6E0-3E1CD39B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954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v40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9FA56-2E60-4E3B-B1BC-F9D7B8BC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812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0.9487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5E7FF-7BD8-41C9-85D0-FCB03BFF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09099-1261-4EF7-A0F5-8DB976B3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779DB-D181-4BE8-9CFD-7059569F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812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0.9519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143000" y="314325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5b75e26e934a9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5AF18-7408-42CF-BEC4-90E28C99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초기 제출 대비 +0.0064102564 개선되었습니다. 624개 테스트셋 기준 약 4개 샘플에 해당하는 차이로, 단순한 변동이 아니라 실험 설계 개선에 따른 유의미한 향상입니다.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1E532-877E-4EB6-AAF4-9D933D92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6</a:t>
            </a:r>
          </a:p>
        </p:txBody>
      </p:sp>
    </p:spTree>
    <p:extLst>
      <p:ext uri="{BB962C8B-B14F-4D97-AF65-F5344CB8AC3E}">
        <p14:creationId xmlns:p14="http://schemas.microsoft.com/office/powerpoint/2010/main" val="1215235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3A18D-C3CA-4651-93B7-B7CEBF34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추가 실험을 통해 과적합 가능성을 확인했습니다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382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524000"/>
                <a:gridCol w="5619750"/>
              </a:tblGrid>
              <a:tr h="809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실패 사례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배운 점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v36 TTA + weight search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0.9439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복잡한 TTA가 X-ray에서 항상 유리하지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v42 다른 threshold 조합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v41보다 낮음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validation 동률이어도 오류 패턴이 다르면 제출 점수가 달라짐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테스트 피드백 기반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폐기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대회 규칙상 적절하지 않아 최종 산출물에서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99F46-8F81-4FEA-8D37-796E9EDA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결론: validation 안에서 결정한 단순하고 일관된 전역 규칙이 가장 안정적인 결과를 보였습니다.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22177-F501-4251-9329-633AAC8C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7</a:t>
            </a:r>
          </a:p>
        </p:txBody>
      </p:sp>
    </p:spTree>
    <p:extLst>
      <p:ext uri="{BB962C8B-B14F-4D97-AF65-F5344CB8AC3E}">
        <p14:creationId xmlns:p14="http://schemas.microsoft.com/office/powerpoint/2010/main" val="1953980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DC2C3-A87D-448C-9CF3-8B8F3CD8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Grad-CAM으로 모델 판단 근거를 점검했습니다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c8693f3814f35"/>
          <a:stretch xmlns:a="http://schemas.openxmlformats.org/drawingml/2006/main"/>
        </p:blipFill>
        <p:spPr>
          <a:xfrm xmlns:a="http://schemas.openxmlformats.org/drawingml/2006/main">
            <a:off x="916471" y="1381125"/>
            <a:ext cx="2567609" cy="2952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8912F-8004-4126-A4A6-BF8DCF75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정상 정분류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true=0 / pred=0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9bf7fe1cd48de"/>
          <a:stretch xmlns:a="http://schemas.openxmlformats.org/drawingml/2006/main"/>
        </p:blipFill>
        <p:spPr>
          <a:xfrm xmlns:a="http://schemas.openxmlformats.org/drawingml/2006/main">
            <a:off x="4631221" y="1381125"/>
            <a:ext cx="2567609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23392-CB2E-46C5-808F-FBE854C4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243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폐렴 정분류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true=1 / pred=1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2773b42a74c95"/>
          <a:stretch xmlns:a="http://schemas.openxmlformats.org/drawingml/2006/main"/>
        </p:blipFill>
        <p:spPr>
          <a:xfrm xmlns:a="http://schemas.openxmlformats.org/drawingml/2006/main">
            <a:off x="8345971" y="1381125"/>
            <a:ext cx="2567609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84812-5131-4937-8EC7-B234AC35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243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경계/오분류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true=0 / pred=1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B2372-4EA5-478C-A6BE-5702F966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해석: 정분류 샘플에서는 폐 영역 또는 음영 영역에 attention이 집중되는지 확인하고, 경계 샘플에서는 촬영 각도나 심장 음영 같은 혼동 요인을 점검한다.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E28B1-7E82-489D-B08A-F6A415CD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8</a:t>
            </a:r>
          </a:p>
        </p:txBody>
      </p:sp>
    </p:spTree>
    <p:extLst>
      <p:ext uri="{BB962C8B-B14F-4D97-AF65-F5344CB8AC3E}">
        <p14:creationId xmlns:p14="http://schemas.microsoft.com/office/powerpoint/2010/main" val="226475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AAA57C-333C-499F-80A7-370CF59C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 인사이트는 probability calibration입니다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8D580-3054-4736-94DA-BC40262B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성능 개선의 핵심은 새 모델 추가가 아니라 probability 해석 방식이었습니다.</a:t>
            </a:r>
          </a:p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threshold 조정은 테스트 라벨을 직접 수정하지 않고 decision boundary를 개선했습니다.</a:t>
            </a:r>
          </a:p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의료 이미지에서는 Accuracy뿐 아니라 Recall, Precision, AUROC, 설명 가능성을 함께 검토해야 합니다.</a:t>
            </a:r>
          </a:p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실무 적용 시에는 K-fold validation과 calibration 안정성 검증이 필요합니다.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55FDE-1D6D-4CF7-B0D6-D97A4FED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42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71805-7BE8-47E8-B525-13CE9B56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가장 효과적인 전략: validation 기반 global threshold 조정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5F1F7-BB9E-4CED-B02A-5BB113D2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9</a:t>
            </a:r>
          </a:p>
        </p:txBody>
      </p:sp>
    </p:spTree>
    <p:extLst>
      <p:ext uri="{BB962C8B-B14F-4D97-AF65-F5344CB8AC3E}">
        <p14:creationId xmlns:p14="http://schemas.microsoft.com/office/powerpoint/2010/main" val="383619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0C1B74-7DEA-4E25-AE2E-1E0B8B0C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다음 단계는 validation 안정성 강화입니다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19150" y="1619250"/>
          <a:ext xmlns:a="http://schemas.openxmlformats.org/drawingml/2006/main" cx="9906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6762750"/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다음 적용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EAF2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K-fold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단일 split 의존도를 줄이고 threshold 안정성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Calibration 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probability가 실제 정답률과 잘 맞는지 점검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모델별 Grad-CAM 비교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182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앙상블 구성원이 서로 다른 영역을 보는지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4040A-3083-4A6B-B1AD-1F05C6A5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최종 선택: v41 Model-Only Validation Threshold Ensemble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CA6FC-E329-4FF2-A7A2-7DA5A07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제출 Accuracy 0.9519230769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A10BB-0FB1-41DC-9222-A65F2E77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10</a:t>
            </a:r>
          </a:p>
        </p:txBody>
      </p:sp>
    </p:spTree>
    <p:extLst>
      <p:ext uri="{BB962C8B-B14F-4D97-AF65-F5344CB8AC3E}">
        <p14:creationId xmlns:p14="http://schemas.microsoft.com/office/powerpoint/2010/main" val="5376331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33026-C440-4E31-AC39-B8FB9382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5E511-292C-48D3-9F38-BAE39E87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폐렴 X-ray 이미지 분류 모델 개선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66411-D2FE-44A4-B82A-3DA297A6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181B7-B512-4BBD-8AA0-2EC7FD29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최종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3847A-4DCF-46F8-8059-9DF1772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v41 Model-Only Validation Threshold Ensemble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12C5C-0F6F-4999-B2C0-5BA64B2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Accuracy 0.9519230769  |  초기 제출 대비 +0.0064102564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48D15-8944-4D31-9131-C43E350A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33450"/>
            <a:ext cx="3429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0E0B5-922A-4FFE-B9E7-A1038593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2A861-EFF1-4945-9E38-DD2C472E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Email  ljk8324@naver.com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46EA9-746A-4D42-8D26-69D46B3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Phone  010-6554-2523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459BE-8B89-4859-BD44-BE17347C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 기여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EEA6B-5DB5-4447-9AF2-9DBFC892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데이터 누수 없이 validation 기반 전역 threshold를 설계했습니다.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세 모델의 probability를 앙상블하여 decision boundary를 개선했습니다.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Grad-CAM으로 모델 판단 근거를 점검했습니다.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D8F02-B1CF-4B9A-8991-C2F772EE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v41 최종 모델 | 11</a:t>
            </a:r>
          </a:p>
        </p:txBody>
      </p:sp>
    </p:spTree>
    <p:extLst>
      <p:ext uri="{BB962C8B-B14F-4D97-AF65-F5344CB8AC3E}">
        <p14:creationId xmlns:p14="http://schemas.microsoft.com/office/powerpoint/2010/main" val="2096267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2026-07-02T01:42:52.9900000Z</dcterms:created>
  <dcterms:modified xsi:type="dcterms:W3CDTF">2026-07-02T01:42:52.9900000Z</dcterms:modified>
</coreProperties>
</file>